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11124921" cy="5505450"/>
          </a:xfrm>
          <a:prstGeom prst="roundRect">
            <a:avLst>
              <a:gd name="adj" fmla="val 484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3990975"/>
            <a:ext cx="10362940" cy="1743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925" b="1" i="0" spc="600">
                <a:latin typeface="PingFang SC"/>
                <a:solidFill>
                  <a:srgbClr val="7c5cff">
                    <a:alpha val="6999"/>
                  </a:srgbClr>
                </a:solidFill>
              </a:rPr>
              <a:t>2026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952500"/>
            <a:ext cx="1036294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PRODUCT INTRO · 2026 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1276350"/>
            <a:ext cx="103629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500" b="1" i="0">
                <a:solidFill>
                  <a:srgbClr val="FFFFFF"/>
                </a:solidFill>
                <a:latin typeface="PingFang SC"/>
              </a:rPr>
              <a:t>Dify 企业介绍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" y="1962150"/>
            <a:ext cx="103629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500" b="1" i="0">
                <a:solidFill>
                  <a:srgbClr val="FFFFFF"/>
                </a:solidFill>
                <a:latin typeface="PingFang SC"/>
              </a:rPr>
              <a:t>下一代 AI 应用开发平台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377" y="2686050"/>
            <a:ext cx="1238219" cy="209550"/>
          </a:xfrm>
          <a:prstGeom prst="roundRect">
            <a:avLst>
              <a:gd name="adj" fmla="val 50000"/>
            </a:avLst>
          </a:prstGeom>
          <a:solidFill>
            <a:srgbClr val="7C5CFF">
              <a:alpha val="22000"/>
            </a:srgbClr>
          </a:solidFill>
          <a:ln w="6350">
            <a:solidFill>
              <a:srgbClr val="7C5CFF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77" y="2714625"/>
            <a:ext cx="1238219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 i="0" spc="50">
                <a:solidFill>
                  <a:srgbClr val="FFFFFF"/>
                </a:solidFill>
                <a:latin typeface="PingFang SC"/>
              </a:rPr>
              <a:t>PRODUCTION-READY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77" y="3162300"/>
            <a:ext cx="1036294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0" i="0">
                <a:solidFill>
                  <a:srgbClr val="BCC4D8"/>
                </a:solidFill>
                <a:latin typeface="PingFang SC"/>
              </a:rPr>
              <a:t>把生成式 AI 的不确定，变成产品落地的确定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77" y="4895850"/>
            <a:ext cx="1142971" cy="3810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377" y="5181600"/>
            <a:ext cx="344796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6B7392"/>
                </a:solidFill>
                <a:latin typeface="PingFang SC"/>
              </a:rP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77" y="5391150"/>
            <a:ext cx="3447963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SC"/>
              </a:rPr>
              <a:t>Dify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2340" y="5181600"/>
            <a:ext cx="344796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6B7392"/>
                </a:solidFill>
                <a:latin typeface="PingFang SC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2340" y="5391150"/>
            <a:ext cx="3447963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SC"/>
              </a:rPr>
              <a:t>2026 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304" y="5181600"/>
            <a:ext cx="344796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6B7392"/>
                </a:solidFill>
                <a:latin typeface="PingFang SC"/>
              </a:rPr>
              <a:t>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304" y="5391150"/>
            <a:ext cx="3447963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SC"/>
              </a:rPr>
              <a:t>企业客户 / 投资人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92"/>
                </a:solidFill>
                <a:latin typeface="PingFang SC"/>
              </a:rPr>
              <a:t>Dify 企业介绍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7392"/>
                </a:solidFill>
                <a:latin typeface="SF Mono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5467213" cy="5505450"/>
          </a:xfrm>
          <a:prstGeom prst="roundRect">
            <a:avLst>
              <a:gd name="adj" fmla="val 487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952500"/>
            <a:ext cx="470523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全球开发者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371600"/>
            <a:ext cx="1828754" cy="1257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0" b="1" i="0">
                <a:solidFill>
                  <a:srgbClr val="FFFFFF"/>
                </a:solidFill>
                <a:latin typeface="PingFang SC"/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5032" y="2114550"/>
            <a:ext cx="53338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 i="0">
                <a:solidFill>
                  <a:srgbClr val="BCC4D8"/>
                </a:solidFill>
                <a:latin typeface="PingFang SC"/>
              </a:rPr>
              <a:t>万+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" y="2571750"/>
            <a:ext cx="470523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22D97F"/>
                </a:solidFill>
                <a:latin typeface="PingFang SC"/>
              </a:rPr>
              <a:t>↑ 180% YoY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77" y="5048250"/>
            <a:ext cx="571485" cy="28575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77" y="5181600"/>
            <a:ext cx="470523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CC4D8"/>
                </a:solidFill>
                <a:latin typeface="PingFang SC"/>
              </a:rPr>
              <a:t>覆盖 130+ 个国家与地区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1095" y="533400"/>
            <a:ext cx="5467213" cy="5505450"/>
          </a:xfrm>
          <a:prstGeom prst="roundRect">
            <a:avLst>
              <a:gd name="adj" fmla="val 487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2085" y="952500"/>
            <a:ext cx="470523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企业客户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085" y="1371600"/>
            <a:ext cx="2971725" cy="1257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0" b="1" i="0">
                <a:solidFill>
                  <a:srgbClr val="FFFFFF"/>
                </a:solidFill>
                <a:latin typeface="PingFang SC"/>
              </a:rPr>
              <a:t>12000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5712" y="2114550"/>
            <a:ext cx="36194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 i="0">
                <a:solidFill>
                  <a:srgbClr val="BCC4D8"/>
                </a:solidFill>
                <a:latin typeface="PingFang SC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085" y="2571750"/>
            <a:ext cx="470523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22D97F"/>
                </a:solidFill>
                <a:latin typeface="PingFang SC"/>
              </a:rPr>
              <a:t>↑ Fortune 500 中的 23 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72085" y="5048250"/>
            <a:ext cx="571485" cy="28575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2085" y="5181600"/>
            <a:ext cx="470523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CC4D8"/>
                </a:solidFill>
                <a:latin typeface="PingFang SC"/>
              </a:rPr>
              <a:t>金融、零售、教育、政务皆有落地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92"/>
                </a:solidFill>
                <a:latin typeface="PingFang SC"/>
              </a:rPr>
              <a:t>Dify 企业介绍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7392"/>
                </a:solidFill>
                <a:latin typeface="SF Mono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7391215" cy="5505450"/>
          </a:xfrm>
          <a:prstGeom prst="roundRect">
            <a:avLst>
              <a:gd name="adj" fmla="val 484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952500"/>
            <a:ext cx="6629234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为什么选择 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352550"/>
            <a:ext cx="6629234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 i="0">
                <a:solidFill>
                  <a:srgbClr val="FFFFFF"/>
                </a:solidFill>
                <a:latin typeface="PingFang SC"/>
              </a:rPr>
              <a:t>把模型能力和业务流程缝起来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1790700"/>
            <a:ext cx="6629234" cy="3790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BCC4D8"/>
                </a:solidFill>
                <a:latin typeface="PingFang SC"/>
              </a:rPr>
              <a:t>Dify 不是又一个聊天机器人，而是把 LLM 能力变成稳定可交付的业务流程。从 prompt 编排到工具调用、从知识库到日志评测，全链路可观测、可回滚。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BCC4D8"/>
                </a:solidFill>
                <a:latin typeface="PingFang SC"/>
              </a:rPr>
              <a:t>工程团队不需要重复造轮子。市场团队不需要等着 IT 排期。运维团队不需要担心 token 失控。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5096" y="533400"/>
            <a:ext cx="3543211" cy="5505450"/>
          </a:xfrm>
          <a:prstGeom prst="roundRect">
            <a:avLst>
              <a:gd name="adj" fmla="val 752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96087" y="1085850"/>
            <a:ext cx="278123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 i="0">
                <a:solidFill>
                  <a:srgbClr val="FFFFFF"/>
                </a:solidFill>
                <a:latin typeface="PingFang SC"/>
              </a:rPr>
              <a:t>核心模块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96087" y="16383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96087" y="16954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276" y="1676400"/>
            <a:ext cx="23240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SC"/>
              </a:rPr>
              <a:t>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276" y="1905000"/>
            <a:ext cx="232404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CC4D8"/>
                </a:solidFill>
                <a:latin typeface="PingFang SC"/>
              </a:rPr>
              <a:t>可视化编排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96087" y="24003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6087" y="24574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276" y="2438400"/>
            <a:ext cx="23240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SC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276" y="2667000"/>
            <a:ext cx="232404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CC4D8"/>
                </a:solidFill>
                <a:latin typeface="PingFang SC"/>
              </a:rPr>
              <a:t>工具调用框架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96087" y="31623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6087" y="32194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276" y="3200400"/>
            <a:ext cx="23240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SC"/>
              </a:rPr>
              <a:t>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276" y="3429000"/>
            <a:ext cx="232404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CC4D8"/>
                </a:solidFill>
                <a:latin typeface="PingFang SC"/>
              </a:rPr>
              <a:t>RAG 引擎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6087" y="39243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96087" y="39814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276" y="3962400"/>
            <a:ext cx="23240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SC"/>
              </a:rPr>
              <a:t>LLMOps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276" y="4191000"/>
            <a:ext cx="232404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CC4D8"/>
                </a:solidFill>
                <a:latin typeface="PingFang SC"/>
              </a:rPr>
              <a:t>评测与监控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92"/>
                </a:solidFill>
                <a:latin typeface="PingFang SC"/>
              </a:rPr>
              <a:t>Dify 企业介绍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7392"/>
                </a:solidFill>
                <a:latin typeface="SF Mono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3581310" cy="5505450"/>
          </a:xfrm>
          <a:prstGeom prst="roundRect">
            <a:avLst>
              <a:gd name="adj" fmla="val 744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952500"/>
            <a:ext cx="2819329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搭建一个 AI 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371600"/>
            <a:ext cx="571485" cy="1000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763" y="1962150"/>
            <a:ext cx="457188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CC4D8"/>
                </a:solidFill>
                <a:latin typeface="PingFang SC"/>
              </a:rPr>
              <a:t>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77" y="5048250"/>
            <a:ext cx="571485" cy="28575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77" y="5181600"/>
            <a:ext cx="281932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CC4D8"/>
                </a:solidFill>
                <a:latin typeface="PingFang SC"/>
              </a:rPr>
              <a:t>从模板到上线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5192" y="533400"/>
            <a:ext cx="3581310" cy="5505450"/>
          </a:xfrm>
          <a:prstGeom prst="roundRect">
            <a:avLst>
              <a:gd name="adj" fmla="val 744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6182" y="952500"/>
            <a:ext cx="2819329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支持模型数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6182" y="1371600"/>
            <a:ext cx="1485862" cy="1000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PingFang SC"/>
              </a:rP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3946" y="1962150"/>
            <a:ext cx="323841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CC4D8"/>
                </a:solidFill>
                <a:latin typeface="PingFang SC"/>
              </a:rPr>
              <a:t>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6182" y="5048250"/>
            <a:ext cx="571485" cy="28575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6182" y="5181600"/>
            <a:ext cx="281932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CC4D8"/>
                </a:solidFill>
                <a:latin typeface="PingFang SC"/>
              </a:rPr>
              <a:t>OpenAI / Anthropic / 国产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6997" y="533400"/>
            <a:ext cx="3581310" cy="5505450"/>
          </a:xfrm>
          <a:prstGeom prst="roundRect">
            <a:avLst>
              <a:gd name="adj" fmla="val 744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7988" y="952500"/>
            <a:ext cx="2819329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可观测性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7988" y="1371600"/>
            <a:ext cx="1485862" cy="1000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PingFang SC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752" y="1962150"/>
            <a:ext cx="323841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CC4D8"/>
                </a:solidFill>
                <a:latin typeface="PingFang SC"/>
              </a:rPr>
              <a:t>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7988" y="5048250"/>
            <a:ext cx="571485" cy="28575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7988" y="5181600"/>
            <a:ext cx="281932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CC4D8"/>
                </a:solidFill>
                <a:latin typeface="PingFang SC"/>
              </a:rPr>
              <a:t>全链路日志与评测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92"/>
                </a:solidFill>
                <a:latin typeface="PingFang SC"/>
              </a:rPr>
              <a:t>Dify 企业介绍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7392"/>
                </a:solidFill>
                <a:latin typeface="SF Mono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33626" y="533400"/>
            <a:ext cx="6324441" cy="5505450"/>
          </a:xfrm>
          <a:prstGeom prst="roundRect">
            <a:avLst>
              <a:gd name="adj" fmla="val 484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14617" y="914400"/>
            <a:ext cx="57148" cy="369570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19409" y="1295400"/>
            <a:ext cx="4952876" cy="3314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0" i="1">
                <a:solidFill>
                  <a:srgbClr val="FFFFFF"/>
                </a:solidFill>
                <a:latin typeface="PingFang SC"/>
              </a:rPr>
              <a:t>AI 应用的瓶颈不是模型，而是工程化。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9409" y="4800600"/>
            <a:ext cx="457188" cy="28575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9409" y="4991100"/>
            <a:ext cx="4952876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PingFang SC"/>
              </a:rPr>
              <a:t>Dify 创始团队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9409" y="5295900"/>
            <a:ext cx="495287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392"/>
                </a:solidFill>
                <a:latin typeface="PingFang SC"/>
              </a:rPr>
              <a:t>2024 年技术分享会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386" y="533400"/>
            <a:ext cx="2209744" cy="2667000"/>
          </a:xfrm>
          <a:prstGeom prst="roundRect">
            <a:avLst>
              <a:gd name="adj" fmla="val 1206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377" y="952500"/>
            <a:ext cx="1447763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模型延迟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77" y="1371600"/>
            <a:ext cx="1447763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PingFang SC"/>
              </a:rPr>
              <a:t>&lt;200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77" y="2019300"/>
            <a:ext cx="144776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1" i="0">
                <a:solidFill>
                  <a:srgbClr val="BCC4D8"/>
                </a:solidFill>
                <a:latin typeface="PingFang SC"/>
              </a:rPr>
              <a:t>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377" y="2409825"/>
            <a:ext cx="571485" cy="28575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3386" y="3371850"/>
            <a:ext cx="2209744" cy="2667000"/>
          </a:xfrm>
          <a:prstGeom prst="roundRect">
            <a:avLst>
              <a:gd name="adj" fmla="val 1206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77" y="3790950"/>
            <a:ext cx="1447763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成本下降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" y="4210050"/>
            <a:ext cx="78103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PingFang SC"/>
              </a:rP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7308" y="4638675"/>
            <a:ext cx="285742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1" i="0">
                <a:solidFill>
                  <a:srgbClr val="BCC4D8"/>
                </a:solidFill>
                <a:latin typeface="PingFang SC"/>
              </a:rPr>
              <a:t>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377" y="5048250"/>
            <a:ext cx="571485" cy="28575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48563" y="533400"/>
            <a:ext cx="2209744" cy="2667000"/>
          </a:xfrm>
          <a:prstGeom prst="roundRect">
            <a:avLst>
              <a:gd name="adj" fmla="val 1206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554" y="952500"/>
            <a:ext cx="1447763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上线周期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554" y="1371600"/>
            <a:ext cx="1447763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PingFang SC"/>
              </a:rPr>
              <a:t>1/10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554" y="2209800"/>
            <a:ext cx="571485" cy="28575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554" y="2343150"/>
            <a:ext cx="144776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CC4D8"/>
                </a:solidFill>
                <a:latin typeface="PingFang SC"/>
              </a:rPr>
              <a:t>对比传统开发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8563" y="3371850"/>
            <a:ext cx="2209744" cy="2667000"/>
          </a:xfrm>
          <a:prstGeom prst="roundRect">
            <a:avLst>
              <a:gd name="adj" fmla="val 1206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554" y="3790950"/>
            <a:ext cx="1447763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客户留存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554" y="4210050"/>
            <a:ext cx="78103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PingFang SC"/>
              </a:rPr>
              <a:t>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72485" y="4638675"/>
            <a:ext cx="285742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1" i="0">
                <a:solidFill>
                  <a:srgbClr val="BCC4D8"/>
                </a:solidFill>
                <a:latin typeface="PingFang SC"/>
              </a:rPr>
              <a:t>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554" y="5048250"/>
            <a:ext cx="571485" cy="28575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92"/>
                </a:solidFill>
                <a:latin typeface="PingFang SC"/>
              </a:rPr>
              <a:t>Dify 企业介绍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7392"/>
                </a:solidFill>
                <a:latin typeface="SF Mono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11124921" cy="2286000"/>
          </a:xfrm>
          <a:prstGeom prst="roundRect">
            <a:avLst>
              <a:gd name="adj" fmla="val 1166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952500"/>
            <a:ext cx="1036294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276350"/>
            <a:ext cx="1036294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PingFang SC"/>
              </a:rPr>
              <a:t>分层架构：从数据层到编排层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1943100"/>
            <a:ext cx="1036294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BCC4D8"/>
                </a:solidFill>
                <a:latin typeface="PingFang SC"/>
              </a:rPr>
              <a:t>每一层都可独立替换，整体可观测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386" y="3009900"/>
            <a:ext cx="3581310" cy="3028950"/>
          </a:xfrm>
          <a:prstGeom prst="roundRect">
            <a:avLst>
              <a:gd name="adj" fmla="val 880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77" y="3562350"/>
            <a:ext cx="281932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 i="0">
                <a:solidFill>
                  <a:srgbClr val="FFFFFF"/>
                </a:solidFill>
                <a:latin typeface="PingFang SC"/>
              </a:rPr>
              <a:t>数据层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079" y="4076700"/>
            <a:ext cx="38099" cy="38100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377" y="41148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77" y="41719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565" y="4152900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SC"/>
              </a:rPr>
              <a:t>向量库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77" y="45720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77" y="46291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565" y="4610100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CC4D8"/>
                </a:solidFill>
                <a:latin typeface="PingFang SC"/>
              </a:rPr>
              <a:t>对象存储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77" y="50292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77" y="50863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65" y="5067300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CC4D8"/>
                </a:solidFill>
                <a:latin typeface="PingFang SC"/>
              </a:rPr>
              <a:t>审计日志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5192" y="3009900"/>
            <a:ext cx="3581310" cy="3028950"/>
          </a:xfrm>
          <a:prstGeom prst="roundRect">
            <a:avLst>
              <a:gd name="adj" fmla="val 880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6182" y="3562350"/>
            <a:ext cx="281932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 i="0">
                <a:solidFill>
                  <a:srgbClr val="FFFFFF"/>
                </a:solidFill>
                <a:latin typeface="PingFang SC"/>
              </a:rPr>
              <a:t>能力层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1885" y="4076700"/>
            <a:ext cx="38099" cy="38100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86182" y="41148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6182" y="41719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3371" y="4152900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SC"/>
              </a:rPr>
              <a:t>模型路由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86182" y="45720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6182" y="46291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3371" y="4610100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CC4D8"/>
                </a:solidFill>
                <a:latin typeface="PingFang SC"/>
              </a:rPr>
              <a:t>工具调用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86182" y="50292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6182" y="50863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3371" y="5067300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CC4D8"/>
                </a:solidFill>
                <a:latin typeface="PingFang SC"/>
              </a:rPr>
              <a:t>知识检索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6997" y="3009900"/>
            <a:ext cx="3581310" cy="3028950"/>
          </a:xfrm>
          <a:prstGeom prst="roundRect">
            <a:avLst>
              <a:gd name="adj" fmla="val 880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7988" y="3562350"/>
            <a:ext cx="281932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 i="0">
                <a:solidFill>
                  <a:srgbClr val="FFFFFF"/>
                </a:solidFill>
                <a:latin typeface="PingFang SC"/>
              </a:rPr>
              <a:t>编排层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43691" y="4076700"/>
            <a:ext cx="38099" cy="38100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57988" y="41148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7988" y="41719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176" y="4152900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SC"/>
              </a:rPr>
              <a:t>Workflow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57988" y="45720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7988" y="46291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176" y="4610100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CC4D8"/>
                </a:solidFill>
                <a:latin typeface="PingFang SC"/>
              </a:rPr>
              <a:t>Agent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7988" y="502920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7988" y="508635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0A0E27"/>
                </a:solidFill>
                <a:latin typeface="PingFang SC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176" y="5067300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CC4D8"/>
                </a:solidFill>
                <a:latin typeface="PingFang SC"/>
              </a:rPr>
              <a:t>Chat 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92"/>
                </a:solidFill>
                <a:latin typeface="PingFang SC"/>
              </a:rPr>
              <a:t>Dify 企业介绍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7392"/>
                </a:solidFill>
                <a:latin typeface="SF Mono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7391215" cy="266700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914400"/>
            <a:ext cx="6629234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模型调用量月环比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381125"/>
            <a:ext cx="152396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PingFang SC"/>
              </a:rPr>
              <a:t>GPT-4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38339" y="1295400"/>
            <a:ext cx="3771805" cy="352425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38339" y="1295400"/>
            <a:ext cx="3771805" cy="352425"/>
          </a:xfrm>
          <a:prstGeom prst="roundRect">
            <a:avLst>
              <a:gd name="adj" fmla="val 1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1" y="1362075"/>
            <a:ext cx="1142971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PingFang SC"/>
              </a:rPr>
              <a:t>42 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77" y="1866900"/>
            <a:ext cx="152396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PingFang SC"/>
              </a:rPr>
              <a:t>Claude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8339" y="1781175"/>
            <a:ext cx="3771805" cy="352425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8339" y="1781175"/>
            <a:ext cx="2781230" cy="352425"/>
          </a:xfrm>
          <a:prstGeom prst="roundRect">
            <a:avLst>
              <a:gd name="adj" fmla="val 1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3866" y="1847850"/>
            <a:ext cx="1142971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PingFang SC"/>
              </a:rPr>
              <a:t>31 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77" y="2352675"/>
            <a:ext cx="152396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PingFang SC"/>
              </a:rPr>
              <a:t>Gemini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38339" y="2266950"/>
            <a:ext cx="3771805" cy="352425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38339" y="2266950"/>
            <a:ext cx="1609684" cy="352425"/>
          </a:xfrm>
          <a:prstGeom prst="roundRect">
            <a:avLst>
              <a:gd name="adj" fmla="val 15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2320" y="2333625"/>
            <a:ext cx="1142971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PingFang SC"/>
              </a:rPr>
              <a:t>18 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5096" y="533400"/>
            <a:ext cx="3543211" cy="266700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6087" y="952500"/>
            <a:ext cx="278123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运行指标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6087" y="1266825"/>
            <a:ext cx="857228" cy="542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PingFang SC"/>
              </a:rPr>
              <a:t>187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5216" y="1571625"/>
            <a:ext cx="371465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PingFang SC"/>
              </a:rPr>
              <a:t>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1910" y="1533525"/>
            <a:ext cx="1600159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BCC4D8"/>
                </a:solidFill>
                <a:latin typeface="PingFang SC"/>
              </a:rPr>
              <a:t>API 平均响应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6087" y="1762125"/>
            <a:ext cx="139061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6B7392"/>
                </a:solidFill>
                <a:latin typeface="PingFang SC"/>
              </a:rPr>
              <a:t>99 分位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6087" y="1876425"/>
            <a:ext cx="13906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SC"/>
              </a:rPr>
              <a:t>420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6702" y="1762125"/>
            <a:ext cx="139061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6B7392"/>
                </a:solidFill>
                <a:latin typeface="PingFang SC"/>
              </a:rPr>
              <a:t>错误率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6702" y="1876425"/>
            <a:ext cx="13906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SC"/>
              </a:rPr>
              <a:t>0.03%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96087" y="2247900"/>
            <a:ext cx="278123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96087" y="2247900"/>
            <a:ext cx="2752656" cy="5715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6087" y="2381250"/>
            <a:ext cx="278123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CC4D8"/>
                </a:solidFill>
                <a:latin typeface="PingFang SC"/>
              </a:rPr>
              <a:t>SLA 99% 达标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386" y="3390900"/>
            <a:ext cx="3543211" cy="2647950"/>
          </a:xfrm>
          <a:prstGeom prst="roundRect">
            <a:avLst>
              <a:gd name="adj" fmla="val 1007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377" y="3771900"/>
            <a:ext cx="278123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界面预览</a:t>
            </a:r>
          </a:p>
        </p:txBody>
      </p:sp>
      <p:pic>
        <p:nvPicPr>
          <p:cNvPr id="31" name="Picture 30" descr="b0f2e74929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77" y="4114800"/>
            <a:ext cx="2781230" cy="146685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305192" y="3390900"/>
            <a:ext cx="7353116" cy="2647950"/>
          </a:xfrm>
          <a:prstGeom prst="roundRect">
            <a:avLst>
              <a:gd name="adj" fmla="val 1007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6182" y="3848100"/>
            <a:ext cx="659113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 i="0">
                <a:solidFill>
                  <a:srgbClr val="FFFFFF"/>
                </a:solidFill>
                <a:latin typeface="PingFang SC"/>
              </a:rPr>
              <a:t>落地案例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6182" y="4286250"/>
            <a:ext cx="6591135" cy="1295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BCC4D8"/>
                </a:solidFill>
                <a:latin typeface="PingFang SC"/>
              </a:rPr>
              <a:t>某头部券商：用 Dify 把 17 个内部系统的接口能力封装成 Agent 工具，把客户经理日均处理工单数从 23 提升到 78。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BCC4D8"/>
                </a:solidFill>
                <a:latin typeface="PingFang SC"/>
              </a:rPr>
              <a:t>某省级政务平台：基于 Dify 知识库构建公文助手，问答准确率从 62% 提升到 91%。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92"/>
                </a:solidFill>
                <a:latin typeface="PingFang SC"/>
              </a:rPr>
              <a:t>Dify 企业介绍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7392"/>
                </a:solidFill>
                <a:latin typeface="SF Mono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11124921" cy="5505450"/>
          </a:xfrm>
          <a:prstGeom prst="roundRect">
            <a:avLst>
              <a:gd name="adj" fmla="val 484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952500"/>
            <a:ext cx="1036294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00D4FF"/>
                </a:solidFill>
                <a:latin typeface="PingFang SC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276350"/>
            <a:ext cx="103629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500" b="1" i="0">
                <a:solidFill>
                  <a:srgbClr val="FFFFFF"/>
                </a:solidFill>
                <a:latin typeface="PingFang SC"/>
              </a:rPr>
              <a:t>让我们一起，把 AI 装进每一个业务流程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2133600"/>
            <a:ext cx="1036294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0" i="0">
                <a:solidFill>
                  <a:srgbClr val="BCC4D8"/>
                </a:solidFill>
                <a:latin typeface="PingFang SC"/>
              </a:rPr>
              <a:t>联系 sales@dify.ai 安排技术演示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77" y="4895850"/>
            <a:ext cx="1142971" cy="3810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77" y="5410200"/>
            <a:ext cx="1036294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BCC4D8"/>
                </a:solidFill>
                <a:latin typeface="PingFang SC"/>
              </a:rPr>
              <a:t>Dify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92"/>
                </a:solidFill>
                <a:latin typeface="PingFang SC"/>
              </a:rPr>
              <a:t>Dify 企业介绍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7392"/>
                </a:solidFill>
                <a:latin typeface="SF Mono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