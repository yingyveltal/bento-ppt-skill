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33386" y="533400"/>
            <a:ext cx="11124921" cy="5505450"/>
          </a:xfrm>
          <a:prstGeom prst="roundRect">
            <a:avLst>
              <a:gd name="adj" fmla="val 484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377" y="3990975"/>
            <a:ext cx="10362940" cy="17430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925" b="1" i="0" spc="600">
                <a:latin typeface="PingFang SC"/>
                <a:solidFill>
                  <a:srgbClr val="7c5cff">
                    <a:alpha val="6999"/>
                  </a:srgbClr>
                </a:solidFill>
              </a:rPr>
              <a:t>2026 FUTURE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377" y="952500"/>
            <a:ext cx="10362940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spc="300">
                <a:solidFill>
                  <a:srgbClr val="00D4FF"/>
                </a:solidFill>
                <a:latin typeface="PingFang SC"/>
              </a:rPr>
              <a:t>PRODUCT INTRO · 2026 Q2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377" y="1276350"/>
            <a:ext cx="103629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500" b="1" i="0">
                <a:solidFill>
                  <a:srgbClr val="FFFFFF"/>
                </a:solidFill>
                <a:latin typeface="PingFang SC"/>
              </a:rPr>
              <a:t>Dify 企业介绍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377" y="1962150"/>
            <a:ext cx="103629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500" b="1" i="0">
                <a:solidFill>
                  <a:srgbClr val="FFFFFF"/>
                </a:solidFill>
                <a:latin typeface="PingFang SC"/>
              </a:rPr>
              <a:t>下一代 AI 应用开发平台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377" y="2686050"/>
            <a:ext cx="1238219" cy="209550"/>
          </a:xfrm>
          <a:prstGeom prst="roundRect">
            <a:avLst>
              <a:gd name="adj" fmla="val 50000"/>
            </a:avLst>
          </a:prstGeom>
          <a:solidFill>
            <a:srgbClr val="7C5CFF">
              <a:alpha val="22000"/>
            </a:srgbClr>
          </a:solidFill>
          <a:ln w="6350">
            <a:solidFill>
              <a:srgbClr val="7C5CFF">
                <a:alpha val="5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377" y="2714625"/>
            <a:ext cx="1238219" cy="1714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25" b="1" i="0" spc="50">
                <a:solidFill>
                  <a:srgbClr val="FFFFFF"/>
                </a:solidFill>
                <a:latin typeface="PingFang SC"/>
              </a:rPr>
              <a:t>PRODUCTION-READY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377" y="3162300"/>
            <a:ext cx="10362940" cy="4000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50" b="0" i="0">
                <a:solidFill>
                  <a:srgbClr val="BCC4D8"/>
                </a:solidFill>
                <a:latin typeface="PingFang SC"/>
              </a:rPr>
              <a:t>把生成式 AI 的不确定，变成产品落地的确定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377" y="4895850"/>
            <a:ext cx="1142971" cy="38100"/>
          </a:xfrm>
          <a:prstGeom prst="rect">
            <a:avLst/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377" y="5181600"/>
            <a:ext cx="3447963" cy="1714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spc="200">
                <a:solidFill>
                  <a:srgbClr val="6B7392"/>
                </a:solidFill>
                <a:latin typeface="PingFang SC"/>
              </a:rPr>
              <a:t>PRESENTED BY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377" y="5391150"/>
            <a:ext cx="3447963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PingFang SC"/>
              </a:rPr>
              <a:t>Dify Team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62340" y="5181600"/>
            <a:ext cx="3447963" cy="1714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spc="200">
                <a:solidFill>
                  <a:srgbClr val="6B7392"/>
                </a:solidFill>
                <a:latin typeface="PingFang SC"/>
              </a:rPr>
              <a:t>DATE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62340" y="5391150"/>
            <a:ext cx="3447963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PingFang SC"/>
              </a:rPr>
              <a:t>2026 Q2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10304" y="5181600"/>
            <a:ext cx="3447963" cy="1714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spc="200">
                <a:solidFill>
                  <a:srgbClr val="6B7392"/>
                </a:solidFill>
                <a:latin typeface="PingFang SC"/>
              </a:rPr>
              <a:t>AUDIENCE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0304" y="5391150"/>
            <a:ext cx="3447963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PingFang SC"/>
              </a:rPr>
              <a:t>企业客户 / 投资人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3386" y="6610350"/>
            <a:ext cx="5714857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B7392"/>
                </a:solidFill>
                <a:latin typeface="PingFang SC"/>
              </a:rPr>
              <a:t>Dify 企业介绍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53356" y="6610350"/>
            <a:ext cx="1904952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6B7392"/>
                </a:solidFill>
                <a:latin typeface="SF Mono"/>
              </a:rPr>
              <a:t>01 / 08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33386" y="533400"/>
            <a:ext cx="5467213" cy="5505450"/>
          </a:xfrm>
          <a:prstGeom prst="roundRect">
            <a:avLst>
              <a:gd name="adj" fmla="val 4878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377" y="952500"/>
            <a:ext cx="4705232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spc="300">
                <a:solidFill>
                  <a:srgbClr val="00D4FF"/>
                </a:solidFill>
                <a:latin typeface="PingFang SC"/>
              </a:rPr>
              <a:t>全球开发者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377" y="1371600"/>
            <a:ext cx="4705232" cy="1257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0" b="1" i="0">
                <a:solidFill>
                  <a:srgbClr val="FFFFFF"/>
                </a:solidFill>
                <a:latin typeface="PingFang SC"/>
              </a:rPr>
              <a:t>180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05032" y="2114550"/>
            <a:ext cx="533386" cy="4000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50" b="1" i="0">
                <a:solidFill>
                  <a:srgbClr val="BCC4D8"/>
                </a:solidFill>
                <a:latin typeface="PingFang SC"/>
              </a:rPr>
              <a:t>万+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377" y="2571750"/>
            <a:ext cx="470523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22D97F"/>
                </a:solidFill>
                <a:latin typeface="PingFang SC"/>
              </a:rPr>
              <a:t>↑ 180% YoY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377" y="5048250"/>
            <a:ext cx="571485" cy="28575"/>
          </a:xfrm>
          <a:prstGeom prst="rect">
            <a:avLst/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377" y="5181600"/>
            <a:ext cx="4705232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BCC4D8"/>
                </a:solidFill>
                <a:latin typeface="PingFang SC"/>
              </a:rPr>
              <a:t>覆盖 130+ 个国家与地区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1095" y="533400"/>
            <a:ext cx="5467213" cy="5505450"/>
          </a:xfrm>
          <a:prstGeom prst="roundRect">
            <a:avLst>
              <a:gd name="adj" fmla="val 4878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72085" y="952500"/>
            <a:ext cx="4705232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spc="300">
                <a:solidFill>
                  <a:srgbClr val="00D4FF"/>
                </a:solidFill>
                <a:latin typeface="PingFang SC"/>
              </a:rPr>
              <a:t>企业客户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72085" y="1371600"/>
            <a:ext cx="4705232" cy="1257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0" b="1" i="0">
                <a:solidFill>
                  <a:srgbClr val="FFFFFF"/>
                </a:solidFill>
                <a:latin typeface="PingFang SC"/>
              </a:rPr>
              <a:t>12000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5712" y="2114550"/>
            <a:ext cx="361940" cy="4000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50" b="1" i="0">
                <a:solidFill>
                  <a:srgbClr val="BCC4D8"/>
                </a:solidFill>
                <a:latin typeface="PingFang SC"/>
              </a:rP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2085" y="2571750"/>
            <a:ext cx="470523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22D97F"/>
                </a:solidFill>
                <a:latin typeface="PingFang SC"/>
              </a:rPr>
              <a:t>↑ Fortune 500 中的 23 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72085" y="5048250"/>
            <a:ext cx="571485" cy="28575"/>
          </a:xfrm>
          <a:prstGeom prst="rect">
            <a:avLst/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72085" y="5181600"/>
            <a:ext cx="4705232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BCC4D8"/>
                </a:solidFill>
                <a:latin typeface="PingFang SC"/>
              </a:rPr>
              <a:t>金融、零售、教育、政务皆有落地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3386" y="6610350"/>
            <a:ext cx="5714857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B7392"/>
                </a:solidFill>
                <a:latin typeface="PingFang SC"/>
              </a:rPr>
              <a:t>Dify 企业介绍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53356" y="6610350"/>
            <a:ext cx="1904952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6B7392"/>
                </a:solidFill>
                <a:latin typeface="SF Mono"/>
              </a:rPr>
              <a:t>02 / 08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33386" y="533400"/>
            <a:ext cx="7391215" cy="5505450"/>
          </a:xfrm>
          <a:prstGeom prst="roundRect">
            <a:avLst>
              <a:gd name="adj" fmla="val 484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377" y="952500"/>
            <a:ext cx="6629234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spc="300">
                <a:solidFill>
                  <a:srgbClr val="00D4FF"/>
                </a:solidFill>
                <a:latin typeface="PingFang SC"/>
              </a:rPr>
              <a:t>为什么选择 Dify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377" y="1352550"/>
            <a:ext cx="6629234" cy="4000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50" b="1" i="0">
                <a:solidFill>
                  <a:srgbClr val="FFFFFF"/>
                </a:solidFill>
                <a:latin typeface="PingFang SC"/>
              </a:rPr>
              <a:t>把模型能力和业务流程缝起来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377" y="1790700"/>
            <a:ext cx="6629234" cy="37909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350">
                <a:solidFill>
                  <a:srgbClr val="BCC4D8"/>
                </a:solidFill>
                <a:latin typeface="PingFang SC"/>
              </a:rPr>
              <a:t>Dify 不是又一个聊天机器人，而是把 LLM 能力变成稳定可交付的业务流程。从 prompt 编排到工具调用、从知识库到日志评测，全链路可观测、可回滚。</a:t>
            </a:r>
          </a:p>
          <a:p>
            <a:pPr>
              <a:spcAft>
                <a:spcPts val="800"/>
              </a:spcAft>
            </a:pPr>
            <a:r>
              <a:rPr sz="1350">
                <a:solidFill>
                  <a:srgbClr val="BCC4D8"/>
                </a:solidFill>
                <a:latin typeface="PingFang SC"/>
              </a:rPr>
              <a:t>工程团队不需要重复造轮子。市场团队不需要等着 IT 排期。运维团队不需要担心 token 失控。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15096" y="533400"/>
            <a:ext cx="3543211" cy="5505450"/>
          </a:xfrm>
          <a:prstGeom prst="roundRect">
            <a:avLst>
              <a:gd name="adj" fmla="val 7526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96087" y="1085850"/>
            <a:ext cx="2781230" cy="4000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50" b="1" i="0">
                <a:solidFill>
                  <a:srgbClr val="FFFFFF"/>
                </a:solidFill>
                <a:latin typeface="PingFang SC"/>
              </a:rPr>
              <a:t>核心模块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96087" y="1638300"/>
            <a:ext cx="304792" cy="304800"/>
          </a:xfrm>
          <a:prstGeom prst="roundRect">
            <a:avLst>
              <a:gd name="adj" fmla="val 25000"/>
            </a:avLst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96087" y="1695450"/>
            <a:ext cx="304792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25" b="1" i="0">
                <a:solidFill>
                  <a:srgbClr val="0A0E27"/>
                </a:solidFill>
                <a:latin typeface="PingFang SC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53276" y="1676400"/>
            <a:ext cx="2324041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PingFang SC"/>
              </a:rPr>
              <a:t>Workflow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53276" y="1905000"/>
            <a:ext cx="2324041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BCC4D8"/>
                </a:solidFill>
                <a:latin typeface="PingFang SC"/>
              </a:rPr>
              <a:t>可视化编排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96087" y="2400300"/>
            <a:ext cx="304792" cy="304800"/>
          </a:xfrm>
          <a:prstGeom prst="roundRect">
            <a:avLst>
              <a:gd name="adj" fmla="val 25000"/>
            </a:avLst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96087" y="2457450"/>
            <a:ext cx="304792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25" b="1" i="0">
                <a:solidFill>
                  <a:srgbClr val="0A0E27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53276" y="2438400"/>
            <a:ext cx="2324041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PingFang SC"/>
              </a:rPr>
              <a:t>Agent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53276" y="2667000"/>
            <a:ext cx="2324041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BCC4D8"/>
                </a:solidFill>
                <a:latin typeface="PingFang SC"/>
              </a:rPr>
              <a:t>工具调用框架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96087" y="3162300"/>
            <a:ext cx="304792" cy="304800"/>
          </a:xfrm>
          <a:prstGeom prst="roundRect">
            <a:avLst>
              <a:gd name="adj" fmla="val 25000"/>
            </a:avLst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96087" y="3219450"/>
            <a:ext cx="304792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25" b="1" i="0">
                <a:solidFill>
                  <a:srgbClr val="0A0E27"/>
                </a:solidFill>
                <a:latin typeface="PingFang SC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53276" y="3200400"/>
            <a:ext cx="2324041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PingFang SC"/>
              </a:rPr>
              <a:t>Knowledge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53276" y="3429000"/>
            <a:ext cx="2324041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BCC4D8"/>
                </a:solidFill>
                <a:latin typeface="PingFang SC"/>
              </a:rPr>
              <a:t>RAG 引擎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496087" y="3924300"/>
            <a:ext cx="304792" cy="304800"/>
          </a:xfrm>
          <a:prstGeom prst="roundRect">
            <a:avLst>
              <a:gd name="adj" fmla="val 25000"/>
            </a:avLst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96087" y="3981450"/>
            <a:ext cx="304792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25" b="1" i="0">
                <a:solidFill>
                  <a:srgbClr val="0A0E27"/>
                </a:solidFill>
                <a:latin typeface="PingFang SC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53276" y="3962400"/>
            <a:ext cx="2324041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PingFang SC"/>
              </a:rPr>
              <a:t>LLMOps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53276" y="4191000"/>
            <a:ext cx="2324041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BCC4D8"/>
                </a:solidFill>
                <a:latin typeface="PingFang SC"/>
              </a:rPr>
              <a:t>评测与监控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3386" y="6610350"/>
            <a:ext cx="5714857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B7392"/>
                </a:solidFill>
                <a:latin typeface="PingFang SC"/>
              </a:rPr>
              <a:t>Dify 企业介绍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53356" y="6610350"/>
            <a:ext cx="1904952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6B7392"/>
                </a:solidFill>
                <a:latin typeface="SF Mono"/>
              </a:rPr>
              <a:t>03 / 08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33386" y="533400"/>
            <a:ext cx="3581310" cy="5505450"/>
          </a:xfrm>
          <a:prstGeom prst="roundRect">
            <a:avLst>
              <a:gd name="adj" fmla="val 7446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377" y="952500"/>
            <a:ext cx="2819329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spc="300">
                <a:solidFill>
                  <a:srgbClr val="00D4FF"/>
                </a:solidFill>
                <a:latin typeface="PingFang SC"/>
              </a:rPr>
              <a:t>搭建一个 AI 应用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377" y="1371600"/>
            <a:ext cx="2819329" cy="10001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600" b="1" i="0">
                <a:solidFill>
                  <a:srgbClr val="FFFFFF"/>
                </a:solidFill>
                <a:latin typeface="PingFang SC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47763" y="1962150"/>
            <a:ext cx="457188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BCC4D8"/>
                </a:solidFill>
                <a:latin typeface="PingFang SC"/>
              </a:rPr>
              <a:t>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377" y="5048250"/>
            <a:ext cx="571485" cy="28575"/>
          </a:xfrm>
          <a:prstGeom prst="rect">
            <a:avLst/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377" y="5181600"/>
            <a:ext cx="2819329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BCC4D8"/>
                </a:solidFill>
                <a:latin typeface="PingFang SC"/>
              </a:rPr>
              <a:t>从模板到上线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05192" y="533400"/>
            <a:ext cx="3581310" cy="5505450"/>
          </a:xfrm>
          <a:prstGeom prst="roundRect">
            <a:avLst>
              <a:gd name="adj" fmla="val 7446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86182" y="952500"/>
            <a:ext cx="2819329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spc="300">
                <a:solidFill>
                  <a:srgbClr val="00D4FF"/>
                </a:solidFill>
                <a:latin typeface="PingFang SC"/>
              </a:rPr>
              <a:t>支持模型数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86182" y="1371600"/>
            <a:ext cx="2819329" cy="10001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600" b="1" i="0">
                <a:solidFill>
                  <a:srgbClr val="FFFFFF"/>
                </a:solidFill>
                <a:latin typeface="PingFang SC"/>
              </a:rPr>
              <a:t>200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33946" y="1962150"/>
            <a:ext cx="323841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BCC4D8"/>
                </a:solidFill>
                <a:latin typeface="PingFang SC"/>
              </a:rPr>
              <a:t>+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86182" y="5048250"/>
            <a:ext cx="571485" cy="28575"/>
          </a:xfrm>
          <a:prstGeom prst="rect">
            <a:avLst/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86182" y="5181600"/>
            <a:ext cx="2819329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BCC4D8"/>
                </a:solidFill>
                <a:latin typeface="PingFang SC"/>
              </a:rPr>
              <a:t>OpenAI / Anthropic / 国产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76997" y="533400"/>
            <a:ext cx="3581310" cy="5505450"/>
          </a:xfrm>
          <a:prstGeom prst="roundRect">
            <a:avLst>
              <a:gd name="adj" fmla="val 7446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57988" y="952500"/>
            <a:ext cx="2819329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spc="300">
                <a:solidFill>
                  <a:srgbClr val="00D4FF"/>
                </a:solidFill>
                <a:latin typeface="PingFang SC"/>
              </a:rPr>
              <a:t>可观测性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7988" y="1371600"/>
            <a:ext cx="2819329" cy="10001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600" b="1" i="0">
                <a:solidFill>
                  <a:srgbClr val="FFFFFF"/>
                </a:solidFill>
                <a:latin typeface="PingFang SC"/>
              </a:rPr>
              <a:t>100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05752" y="1962150"/>
            <a:ext cx="323841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BCC4D8"/>
                </a:solidFill>
                <a:latin typeface="PingFang SC"/>
              </a:rPr>
              <a:t>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457988" y="5048250"/>
            <a:ext cx="571485" cy="28575"/>
          </a:xfrm>
          <a:prstGeom prst="rect">
            <a:avLst/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57988" y="5181600"/>
            <a:ext cx="2819329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BCC4D8"/>
                </a:solidFill>
                <a:latin typeface="PingFang SC"/>
              </a:rPr>
              <a:t>全链路日志与评测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3386" y="6610350"/>
            <a:ext cx="5714857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B7392"/>
                </a:solidFill>
                <a:latin typeface="PingFang SC"/>
              </a:rPr>
              <a:t>Dify 企业介绍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53356" y="6610350"/>
            <a:ext cx="1904952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6B7392"/>
                </a:solidFill>
                <a:latin typeface="SF Mono"/>
              </a:rPr>
              <a:t>04 / 08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933626" y="533400"/>
            <a:ext cx="6324441" cy="5505450"/>
          </a:xfrm>
          <a:prstGeom prst="roundRect">
            <a:avLst>
              <a:gd name="adj" fmla="val 484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314617" y="914400"/>
            <a:ext cx="57148" cy="369570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19409" y="1295400"/>
            <a:ext cx="4952876" cy="3314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300" b="0" i="1">
                <a:solidFill>
                  <a:srgbClr val="FFFFFF"/>
                </a:solidFill>
                <a:latin typeface="PingFang SC"/>
              </a:rPr>
              <a:t>AI 应用的瓶颈不是模型，而是工程化。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3619409" y="4800600"/>
            <a:ext cx="457188" cy="28575"/>
          </a:xfrm>
          <a:prstGeom prst="rect">
            <a:avLst/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19409" y="4991100"/>
            <a:ext cx="4952876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FFFFFF"/>
                </a:solidFill>
                <a:latin typeface="PingFang SC"/>
              </a:rPr>
              <a:t>Dify 创始团队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19409" y="5295900"/>
            <a:ext cx="4952876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392"/>
                </a:solidFill>
                <a:latin typeface="PingFang SC"/>
              </a:rPr>
              <a:t>2024 年技术分享会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3386" y="533400"/>
            <a:ext cx="2209744" cy="2667000"/>
          </a:xfrm>
          <a:prstGeom prst="roundRect">
            <a:avLst>
              <a:gd name="adj" fmla="val 12068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377" y="952500"/>
            <a:ext cx="1447763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spc="300">
                <a:solidFill>
                  <a:srgbClr val="00D4FF"/>
                </a:solidFill>
                <a:latin typeface="PingFang SC"/>
              </a:rPr>
              <a:t>模型延迟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377" y="1371600"/>
            <a:ext cx="1447763" cy="7239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4800" b="1" i="0">
                <a:solidFill>
                  <a:srgbClr val="FFFFFF"/>
                </a:solidFill>
                <a:latin typeface="PingFang SC"/>
              </a:rPr>
              <a:t>&lt;200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377" y="2019300"/>
            <a:ext cx="1447763" cy="2190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75" b="1" i="0">
                <a:solidFill>
                  <a:srgbClr val="BCC4D8"/>
                </a:solidFill>
                <a:latin typeface="PingFang SC"/>
              </a:rPr>
              <a:t>ms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377" y="2409825"/>
            <a:ext cx="571485" cy="28575"/>
          </a:xfrm>
          <a:prstGeom prst="rect">
            <a:avLst/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33386" y="3371850"/>
            <a:ext cx="2209744" cy="2667000"/>
          </a:xfrm>
          <a:prstGeom prst="roundRect">
            <a:avLst>
              <a:gd name="adj" fmla="val 12068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377" y="3790950"/>
            <a:ext cx="1447763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spc="300">
                <a:solidFill>
                  <a:srgbClr val="00D4FF"/>
                </a:solidFill>
                <a:latin typeface="PingFang SC"/>
              </a:rPr>
              <a:t>成本下降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377" y="4210050"/>
            <a:ext cx="1447763" cy="7239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4800" b="1" i="0">
                <a:solidFill>
                  <a:srgbClr val="FFFFFF"/>
                </a:solidFill>
                <a:latin typeface="PingFang SC"/>
              </a:rPr>
              <a:t>60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57308" y="4638675"/>
            <a:ext cx="285742" cy="2190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75" b="1" i="0">
                <a:solidFill>
                  <a:srgbClr val="BCC4D8"/>
                </a:solidFill>
                <a:latin typeface="PingFang SC"/>
              </a:rPr>
              <a:t>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4377" y="5048250"/>
            <a:ext cx="571485" cy="28575"/>
          </a:xfrm>
          <a:prstGeom prst="rect">
            <a:avLst/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448563" y="533400"/>
            <a:ext cx="2209744" cy="2667000"/>
          </a:xfrm>
          <a:prstGeom prst="roundRect">
            <a:avLst>
              <a:gd name="adj" fmla="val 12068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29554" y="952500"/>
            <a:ext cx="1447763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spc="300">
                <a:solidFill>
                  <a:srgbClr val="00D4FF"/>
                </a:solidFill>
                <a:latin typeface="PingFang SC"/>
              </a:rPr>
              <a:t>上线周期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29554" y="1371600"/>
            <a:ext cx="1447763" cy="7239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4800" b="1" i="0">
                <a:solidFill>
                  <a:srgbClr val="FFFFFF"/>
                </a:solidFill>
                <a:latin typeface="PingFang SC"/>
              </a:rPr>
              <a:t>1/10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829554" y="2209800"/>
            <a:ext cx="571485" cy="28575"/>
          </a:xfrm>
          <a:prstGeom prst="rect">
            <a:avLst/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829554" y="2343150"/>
            <a:ext cx="1447763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BCC4D8"/>
                </a:solidFill>
                <a:latin typeface="PingFang SC"/>
              </a:rPr>
              <a:t>对比传统开发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448563" y="3371850"/>
            <a:ext cx="2209744" cy="2667000"/>
          </a:xfrm>
          <a:prstGeom prst="roundRect">
            <a:avLst>
              <a:gd name="adj" fmla="val 12068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829554" y="3790950"/>
            <a:ext cx="1447763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spc="300">
                <a:solidFill>
                  <a:srgbClr val="00D4FF"/>
                </a:solidFill>
                <a:latin typeface="PingFang SC"/>
              </a:rPr>
              <a:t>客户留存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29554" y="4210050"/>
            <a:ext cx="1447763" cy="7239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4800" b="1" i="0">
                <a:solidFill>
                  <a:srgbClr val="FFFFFF"/>
                </a:solidFill>
                <a:latin typeface="PingFang SC"/>
              </a:rPr>
              <a:t>94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72485" y="4638675"/>
            <a:ext cx="285742" cy="2190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75" b="1" i="0">
                <a:solidFill>
                  <a:srgbClr val="BCC4D8"/>
                </a:solidFill>
                <a:latin typeface="PingFang SC"/>
              </a:rPr>
              <a:t>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829554" y="5048250"/>
            <a:ext cx="571485" cy="28575"/>
          </a:xfrm>
          <a:prstGeom prst="rect">
            <a:avLst/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3386" y="6610350"/>
            <a:ext cx="5714857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B7392"/>
                </a:solidFill>
                <a:latin typeface="PingFang SC"/>
              </a:rPr>
              <a:t>Dify 企业介绍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53356" y="6610350"/>
            <a:ext cx="1904952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6B7392"/>
                </a:solidFill>
                <a:latin typeface="SF Mono"/>
              </a:rPr>
              <a:t>05 / 08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33386" y="533400"/>
            <a:ext cx="11124921" cy="2286000"/>
          </a:xfrm>
          <a:prstGeom prst="roundRect">
            <a:avLst>
              <a:gd name="adj" fmla="val 11666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377" y="952500"/>
            <a:ext cx="10362940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spc="300">
                <a:solidFill>
                  <a:srgbClr val="00D4FF"/>
                </a:solidFill>
                <a:latin typeface="PingFang SC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377" y="1276350"/>
            <a:ext cx="10362940" cy="4953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300" b="1" i="0">
                <a:solidFill>
                  <a:srgbClr val="FFFFFF"/>
                </a:solidFill>
                <a:latin typeface="PingFang SC"/>
              </a:rPr>
              <a:t>分层架构：从数据层到编排层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377" y="1943100"/>
            <a:ext cx="10362940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50" b="0" i="0">
                <a:solidFill>
                  <a:srgbClr val="BCC4D8"/>
                </a:solidFill>
                <a:latin typeface="PingFang SC"/>
              </a:rPr>
              <a:t>每一层都可独立替换，整体可观测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3386" y="3009900"/>
            <a:ext cx="3581310" cy="3028950"/>
          </a:xfrm>
          <a:prstGeom prst="roundRect">
            <a:avLst>
              <a:gd name="adj" fmla="val 8805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377" y="3562350"/>
            <a:ext cx="2819329" cy="4000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50" b="1" i="0">
                <a:solidFill>
                  <a:srgbClr val="FFFFFF"/>
                </a:solidFill>
                <a:latin typeface="PingFang SC"/>
              </a:rPr>
              <a:t>数据层</a:t>
            </a:r>
          </a:p>
        </p:txBody>
      </p:sp>
      <p:sp>
        <p:nvSpPr>
          <p:cNvPr id="9" name="Rectangle 8"/>
          <p:cNvSpPr/>
          <p:nvPr/>
        </p:nvSpPr>
        <p:spPr>
          <a:xfrm>
            <a:off x="800079" y="4076700"/>
            <a:ext cx="38099" cy="381000"/>
          </a:xfrm>
          <a:prstGeom prst="rect">
            <a:avLst/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14377" y="4114800"/>
            <a:ext cx="304792" cy="304800"/>
          </a:xfrm>
          <a:prstGeom prst="roundRect">
            <a:avLst>
              <a:gd name="adj" fmla="val 25000"/>
            </a:avLst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377" y="4171950"/>
            <a:ext cx="304792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25" b="1" i="0">
                <a:solidFill>
                  <a:srgbClr val="0A0E27"/>
                </a:solidFill>
                <a:latin typeface="PingFang SC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565" y="4152900"/>
            <a:ext cx="23621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PingFang SC"/>
              </a:rPr>
              <a:t>向量库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377" y="4572000"/>
            <a:ext cx="304792" cy="304800"/>
          </a:xfrm>
          <a:prstGeom prst="roundRect">
            <a:avLst>
              <a:gd name="adj" fmla="val 25000"/>
            </a:avLst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377" y="4629150"/>
            <a:ext cx="304792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25" b="1" i="0">
                <a:solidFill>
                  <a:srgbClr val="0A0E27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565" y="4610100"/>
            <a:ext cx="23621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BCC4D8"/>
                </a:solidFill>
                <a:latin typeface="PingFang SC"/>
              </a:rPr>
              <a:t>对象存储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377" y="5029200"/>
            <a:ext cx="304792" cy="304800"/>
          </a:xfrm>
          <a:prstGeom prst="roundRect">
            <a:avLst>
              <a:gd name="adj" fmla="val 25000"/>
            </a:avLst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377" y="5086350"/>
            <a:ext cx="304792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25" b="1" i="0">
                <a:solidFill>
                  <a:srgbClr val="0A0E27"/>
                </a:solidFill>
                <a:latin typeface="PingFang SC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565" y="5067300"/>
            <a:ext cx="23621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BCC4D8"/>
                </a:solidFill>
                <a:latin typeface="PingFang SC"/>
              </a:rPr>
              <a:t>审计日志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05192" y="3009900"/>
            <a:ext cx="3581310" cy="3028950"/>
          </a:xfrm>
          <a:prstGeom prst="roundRect">
            <a:avLst>
              <a:gd name="adj" fmla="val 8805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86182" y="3562350"/>
            <a:ext cx="2819329" cy="4000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50" b="1" i="0">
                <a:solidFill>
                  <a:srgbClr val="FFFFFF"/>
                </a:solidFill>
                <a:latin typeface="PingFang SC"/>
              </a:rPr>
              <a:t>能力层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1885" y="4076700"/>
            <a:ext cx="38099" cy="381000"/>
          </a:xfrm>
          <a:prstGeom prst="rect">
            <a:avLst/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686182" y="4114800"/>
            <a:ext cx="304792" cy="304800"/>
          </a:xfrm>
          <a:prstGeom prst="roundRect">
            <a:avLst>
              <a:gd name="adj" fmla="val 25000"/>
            </a:avLst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86182" y="4171950"/>
            <a:ext cx="304792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25" b="1" i="0">
                <a:solidFill>
                  <a:srgbClr val="0A0E27"/>
                </a:solidFill>
                <a:latin typeface="PingFang SC"/>
              </a:rPr>
              <a:t>01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43371" y="4152900"/>
            <a:ext cx="23621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PingFang SC"/>
              </a:rPr>
              <a:t>模型路由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686182" y="4572000"/>
            <a:ext cx="304792" cy="304800"/>
          </a:xfrm>
          <a:prstGeom prst="roundRect">
            <a:avLst>
              <a:gd name="adj" fmla="val 25000"/>
            </a:avLst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86182" y="4629150"/>
            <a:ext cx="304792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25" b="1" i="0">
                <a:solidFill>
                  <a:srgbClr val="0A0E27"/>
                </a:solidFill>
                <a:latin typeface="PingFang SC"/>
              </a:rPr>
              <a:t>02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3371" y="4610100"/>
            <a:ext cx="23621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BCC4D8"/>
                </a:solidFill>
                <a:latin typeface="PingFang SC"/>
              </a:rPr>
              <a:t>工具调用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686182" y="5029200"/>
            <a:ext cx="304792" cy="304800"/>
          </a:xfrm>
          <a:prstGeom prst="roundRect">
            <a:avLst>
              <a:gd name="adj" fmla="val 25000"/>
            </a:avLst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86182" y="5086350"/>
            <a:ext cx="304792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25" b="1" i="0">
                <a:solidFill>
                  <a:srgbClr val="0A0E27"/>
                </a:solidFill>
                <a:latin typeface="PingFang SC"/>
              </a:rPr>
              <a:t>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43371" y="5067300"/>
            <a:ext cx="23621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BCC4D8"/>
                </a:solidFill>
                <a:latin typeface="PingFang SC"/>
              </a:rPr>
              <a:t>知识检索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76997" y="3009900"/>
            <a:ext cx="3581310" cy="3028950"/>
          </a:xfrm>
          <a:prstGeom prst="roundRect">
            <a:avLst>
              <a:gd name="adj" fmla="val 8805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457988" y="3562350"/>
            <a:ext cx="2819329" cy="4000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50" b="1" i="0">
                <a:solidFill>
                  <a:srgbClr val="FFFFFF"/>
                </a:solidFill>
                <a:latin typeface="PingFang SC"/>
              </a:rPr>
              <a:t>编排层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343691" y="4076700"/>
            <a:ext cx="38099" cy="381000"/>
          </a:xfrm>
          <a:prstGeom prst="rect">
            <a:avLst/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457988" y="4114800"/>
            <a:ext cx="304792" cy="304800"/>
          </a:xfrm>
          <a:prstGeom prst="roundRect">
            <a:avLst>
              <a:gd name="adj" fmla="val 25000"/>
            </a:avLst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457988" y="4171950"/>
            <a:ext cx="304792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25" b="1" i="0">
                <a:solidFill>
                  <a:srgbClr val="0A0E27"/>
                </a:solidFill>
                <a:latin typeface="PingFang SC"/>
              </a:rPr>
              <a:t>01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15176" y="4152900"/>
            <a:ext cx="23621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PingFang SC"/>
              </a:rPr>
              <a:t>Workflow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457988" y="4572000"/>
            <a:ext cx="304792" cy="304800"/>
          </a:xfrm>
          <a:prstGeom prst="roundRect">
            <a:avLst>
              <a:gd name="adj" fmla="val 25000"/>
            </a:avLst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57988" y="4629150"/>
            <a:ext cx="304792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25" b="1" i="0">
                <a:solidFill>
                  <a:srgbClr val="0A0E27"/>
                </a:solidFill>
                <a:latin typeface="PingFang SC"/>
              </a:rPr>
              <a:t>02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15176" y="4610100"/>
            <a:ext cx="23621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BCC4D8"/>
                </a:solidFill>
                <a:latin typeface="PingFang SC"/>
              </a:rPr>
              <a:t>Agent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457988" y="5029200"/>
            <a:ext cx="304792" cy="304800"/>
          </a:xfrm>
          <a:prstGeom prst="roundRect">
            <a:avLst>
              <a:gd name="adj" fmla="val 25000"/>
            </a:avLst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457988" y="5086350"/>
            <a:ext cx="304792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25" b="1" i="0">
                <a:solidFill>
                  <a:srgbClr val="0A0E27"/>
                </a:solidFill>
                <a:latin typeface="PingFang SC"/>
              </a:rPr>
              <a:t>03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915176" y="5067300"/>
            <a:ext cx="23621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BCC4D8"/>
                </a:solidFill>
                <a:latin typeface="PingFang SC"/>
              </a:rPr>
              <a:t>Chat 流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33386" y="6610350"/>
            <a:ext cx="5714857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B7392"/>
                </a:solidFill>
                <a:latin typeface="PingFang SC"/>
              </a:rPr>
              <a:t>Dify 企业介绍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753356" y="6610350"/>
            <a:ext cx="1904952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6B7392"/>
                </a:solidFill>
                <a:latin typeface="SF Mono"/>
              </a:rPr>
              <a:t>06 / 08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33386" y="533400"/>
            <a:ext cx="7391215" cy="2667000"/>
          </a:xfrm>
          <a:prstGeom prst="roundRect">
            <a:avLst>
              <a:gd name="adj" fmla="val 10000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377" y="914400"/>
            <a:ext cx="6629234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spc="300">
                <a:solidFill>
                  <a:srgbClr val="00D4FF"/>
                </a:solidFill>
                <a:latin typeface="PingFang SC"/>
              </a:rPr>
              <a:t>模型调用量月环比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377" y="1381125"/>
            <a:ext cx="1523961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FFFFFF"/>
                </a:solidFill>
                <a:latin typeface="PingFang SC"/>
              </a:rPr>
              <a:t>GPT-4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438339" y="1295400"/>
            <a:ext cx="3771805" cy="352425"/>
          </a:xfrm>
          <a:prstGeom prst="roundRect">
            <a:avLst>
              <a:gd name="adj" fmla="val 15000"/>
            </a:avLst>
          </a:prstGeom>
          <a:solidFill>
            <a:srgbClr val="FFFF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438339" y="1295400"/>
            <a:ext cx="3771805" cy="352425"/>
          </a:xfrm>
          <a:prstGeom prst="roundRect">
            <a:avLst>
              <a:gd name="adj" fmla="val 15000"/>
            </a:avLst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24441" y="1362075"/>
            <a:ext cx="1142971" cy="2476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FFFFFF"/>
                </a:solidFill>
                <a:latin typeface="PingFang SC"/>
              </a:rPr>
              <a:t>42 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377" y="1866900"/>
            <a:ext cx="1523961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FFFFFF"/>
                </a:solidFill>
                <a:latin typeface="PingFang SC"/>
              </a:rPr>
              <a:t>Claude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38339" y="1781175"/>
            <a:ext cx="3771805" cy="352425"/>
          </a:xfrm>
          <a:prstGeom prst="roundRect">
            <a:avLst>
              <a:gd name="adj" fmla="val 15000"/>
            </a:avLst>
          </a:prstGeom>
          <a:solidFill>
            <a:srgbClr val="FFFF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438339" y="1781175"/>
            <a:ext cx="2781230" cy="352425"/>
          </a:xfrm>
          <a:prstGeom prst="roundRect">
            <a:avLst>
              <a:gd name="adj" fmla="val 15000"/>
            </a:avLst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33866" y="1847850"/>
            <a:ext cx="1142971" cy="2476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FFFFFF"/>
                </a:solidFill>
                <a:latin typeface="PingFang SC"/>
              </a:rPr>
              <a:t>31 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377" y="2352675"/>
            <a:ext cx="1523961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FFFFFF"/>
                </a:solidFill>
                <a:latin typeface="PingFang SC"/>
              </a:rPr>
              <a:t>Gemini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438339" y="2266950"/>
            <a:ext cx="3771805" cy="352425"/>
          </a:xfrm>
          <a:prstGeom prst="roundRect">
            <a:avLst>
              <a:gd name="adj" fmla="val 15000"/>
            </a:avLst>
          </a:prstGeom>
          <a:solidFill>
            <a:srgbClr val="FFFF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438339" y="2266950"/>
            <a:ext cx="1609684" cy="352425"/>
          </a:xfrm>
          <a:prstGeom prst="roundRect">
            <a:avLst>
              <a:gd name="adj" fmla="val 15000"/>
            </a:avLst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62320" y="2333625"/>
            <a:ext cx="1142971" cy="2476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FFFFFF"/>
                </a:solidFill>
                <a:latin typeface="PingFang SC"/>
              </a:rPr>
              <a:t>18 亿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15096" y="533400"/>
            <a:ext cx="3543211" cy="2667000"/>
          </a:xfrm>
          <a:prstGeom prst="roundRect">
            <a:avLst>
              <a:gd name="adj" fmla="val 10000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96087" y="952500"/>
            <a:ext cx="2781230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spc="300">
                <a:solidFill>
                  <a:srgbClr val="00D4FF"/>
                </a:solidFill>
                <a:latin typeface="PingFang SC"/>
              </a:rPr>
              <a:t>运行指标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96087" y="1266825"/>
            <a:ext cx="2781230" cy="5429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PingFang SC"/>
              </a:rPr>
              <a:t>187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15216" y="1571625"/>
            <a:ext cx="371465" cy="1809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00D4FF"/>
                </a:solidFill>
                <a:latin typeface="PingFang SC"/>
              </a:rPr>
              <a:t>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81910" y="1533525"/>
            <a:ext cx="1600159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BCC4D8"/>
                </a:solidFill>
                <a:latin typeface="PingFang SC"/>
              </a:rPr>
              <a:t>API 平均响应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96087" y="1762125"/>
            <a:ext cx="1390615" cy="1714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spc="100">
                <a:solidFill>
                  <a:srgbClr val="6B7392"/>
                </a:solidFill>
                <a:latin typeface="PingFang SC"/>
              </a:rPr>
              <a:t>99 分位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96087" y="1876425"/>
            <a:ext cx="1390615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PingFang SC"/>
              </a:rPr>
              <a:t>420 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86702" y="1762125"/>
            <a:ext cx="1390615" cy="1714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spc="100">
                <a:solidFill>
                  <a:srgbClr val="6B7392"/>
                </a:solidFill>
                <a:latin typeface="PingFang SC"/>
              </a:rPr>
              <a:t>错误率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86702" y="1876425"/>
            <a:ext cx="1390615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PingFang SC"/>
              </a:rPr>
              <a:t>0.03%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96087" y="2247900"/>
            <a:ext cx="2781230" cy="5715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496087" y="2247900"/>
            <a:ext cx="2752656" cy="5715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96087" y="2381250"/>
            <a:ext cx="278123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BCC4D8"/>
                </a:solidFill>
                <a:latin typeface="PingFang SC"/>
              </a:rPr>
              <a:t>SLA 99% 达标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33386" y="3390900"/>
            <a:ext cx="3543211" cy="2647950"/>
          </a:xfrm>
          <a:prstGeom prst="roundRect">
            <a:avLst>
              <a:gd name="adj" fmla="val 10071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377" y="3771900"/>
            <a:ext cx="2781230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spc="300">
                <a:solidFill>
                  <a:srgbClr val="00D4FF"/>
                </a:solidFill>
                <a:latin typeface="PingFang SC"/>
              </a:rPr>
              <a:t>界面预览</a:t>
            </a:r>
          </a:p>
        </p:txBody>
      </p:sp>
      <p:pic>
        <p:nvPicPr>
          <p:cNvPr id="31" name="Picture 30" descr="b0f2e749292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377" y="4114800"/>
            <a:ext cx="2781230" cy="1466850"/>
          </a:xfrm>
          <a:prstGeom prst="rect">
            <a:avLst/>
          </a:prstGeom>
        </p:spPr>
      </p:pic>
      <p:sp>
        <p:nvSpPr>
          <p:cNvPr id="32" name="Rounded Rectangle 31"/>
          <p:cNvSpPr/>
          <p:nvPr/>
        </p:nvSpPr>
        <p:spPr>
          <a:xfrm>
            <a:off x="4305192" y="3390900"/>
            <a:ext cx="7353116" cy="2647950"/>
          </a:xfrm>
          <a:prstGeom prst="roundRect">
            <a:avLst>
              <a:gd name="adj" fmla="val 10071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686182" y="3848100"/>
            <a:ext cx="6591135" cy="4000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50" b="1" i="0">
                <a:solidFill>
                  <a:srgbClr val="FFFFFF"/>
                </a:solidFill>
                <a:latin typeface="PingFang SC"/>
              </a:rPr>
              <a:t>落地案例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86182" y="4286250"/>
            <a:ext cx="6591135" cy="1295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350">
                <a:solidFill>
                  <a:srgbClr val="BCC4D8"/>
                </a:solidFill>
                <a:latin typeface="PingFang SC"/>
              </a:rPr>
              <a:t>某头部券商：用 Dify 把 17 个内部系统的接口能力封装成 Agent 工具，把客户经理日均处理工单数从 23 提升到 78。</a:t>
            </a:r>
          </a:p>
          <a:p>
            <a:pPr>
              <a:spcAft>
                <a:spcPts val="800"/>
              </a:spcAft>
            </a:pPr>
            <a:r>
              <a:rPr sz="1350">
                <a:solidFill>
                  <a:srgbClr val="BCC4D8"/>
                </a:solidFill>
                <a:latin typeface="PingFang SC"/>
              </a:rPr>
              <a:t>某省级政务平台：基于 Dify 知识库构建公文助手，问答准确率从 62% 提升到 91%。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3386" y="6610350"/>
            <a:ext cx="5714857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B7392"/>
                </a:solidFill>
                <a:latin typeface="PingFang SC"/>
              </a:rPr>
              <a:t>Dify 企业介绍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753356" y="6610350"/>
            <a:ext cx="1904952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6B7392"/>
                </a:solidFill>
                <a:latin typeface="SF Mono"/>
              </a:rPr>
              <a:t>07 / 08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33386" y="533400"/>
            <a:ext cx="11124921" cy="5505450"/>
          </a:xfrm>
          <a:prstGeom prst="roundRect">
            <a:avLst>
              <a:gd name="adj" fmla="val 484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377" y="952500"/>
            <a:ext cx="10362940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spc="300">
                <a:solidFill>
                  <a:srgbClr val="00D4FF"/>
                </a:solidFill>
                <a:latin typeface="PingFang SC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377" y="1276350"/>
            <a:ext cx="103629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500" b="1" i="0">
                <a:solidFill>
                  <a:srgbClr val="FFFFFF"/>
                </a:solidFill>
                <a:latin typeface="PingFang SC"/>
              </a:rPr>
              <a:t>让我们一起，把 AI 装进每一个业务流程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377" y="2133600"/>
            <a:ext cx="10362940" cy="4000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50" b="0" i="0">
                <a:solidFill>
                  <a:srgbClr val="BCC4D8"/>
                </a:solidFill>
                <a:latin typeface="PingFang SC"/>
              </a:rPr>
              <a:t>联系 sales@dify.ai 安排技术演示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377" y="4895850"/>
            <a:ext cx="1142971" cy="38100"/>
          </a:xfrm>
          <a:prstGeom prst="rect">
            <a:avLst/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377" y="5410200"/>
            <a:ext cx="1036294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BCC4D8"/>
                </a:solidFill>
                <a:latin typeface="PingFang SC"/>
              </a:rPr>
              <a:t>Dify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386" y="6610350"/>
            <a:ext cx="5714857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B7392"/>
                </a:solidFill>
                <a:latin typeface="PingFang SC"/>
              </a:rPr>
              <a:t>Dify 企业介绍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53356" y="6610350"/>
            <a:ext cx="1904952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6B7392"/>
                </a:solidFill>
                <a:latin typeface="SF Mono"/>
              </a:rPr>
              <a:t>08 / 08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